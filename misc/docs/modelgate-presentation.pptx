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  <a:latin typeface="Consolas"/>
              </a:rPr>
              <a:t>KSU SOCIAL GOOD HACKATHON 2026  ·  ASSURANT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EEEEEE"/>
                </a:solidFill>
                <a:latin typeface="Georgia"/>
              </a:rPr>
              <a:t>ModelGate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38647" y="3108960"/>
            <a:ext cx="91440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32918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99999"/>
                </a:solidFill>
                <a:latin typeface="Calibri"/>
              </a:rPr>
              <a:t>Contract-Aware AI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A5A5A"/>
                </a:solidFill>
                <a:latin typeface="Calibri"/>
              </a:rPr>
              <a:t>One line of code.  Immediate savings.  No friction.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  <a:latin typeface="Consolas"/>
              </a:rPr>
              <a:t>FastAPI + Python   ·   Next.js + TypeScript   ·   Arch-Router-1.5B   ·   OpenRouter   · 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THE ASSURANT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Helping people thrive in a connected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A5A5A"/>
                </a:solidFill>
                <a:latin typeface="Calibri"/>
              </a:rPr>
              <a:t>The connected world runs on AI. AI is expensive, wasteful, and impossible to configure correctly at scale.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10312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" y="2240280"/>
            <a:ext cx="5250027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EEEEEE"/>
                </a:solidFill>
                <a:latin typeface="Georgia"/>
              </a:rPr>
              <a:t>180×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more energy consumed by premium models
vs small models per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240280"/>
            <a:ext cx="5250027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4467" y="246888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EEEEEE"/>
                </a:solidFill>
                <a:latin typeface="Georgia"/>
              </a:rPr>
              <a:t>50–90%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4467" y="320040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of enterprise AI inference spend wasted
on overprovisioned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5250027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EEEEEE"/>
                </a:solidFill>
                <a:latin typeface="Georgia"/>
              </a:rPr>
              <a:t>$37B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enterprise GenAI spend in 2025
up 3.2× year-over-year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4114800"/>
            <a:ext cx="5250027" cy="173736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467" y="434340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EEEEEE"/>
                </a:solidFill>
                <a:latin typeface="Georgia"/>
              </a:rPr>
              <a:t>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4467" y="5074920"/>
            <a:ext cx="470138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of organizations can actually
measure their AI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A5A5A"/>
                </a:solidFill>
                <a:latin typeface="Calibri"/>
              </a:rPr>
              <a:t>"Without security and efficient application infrastructure, we are at risk of increasing the waste and consumption with our day-to-day tools." — Assurant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THE PROBLEM IS UNIVERSAL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Every layer of the AI stack is affected.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1498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  <a:gridCol w="1737360"/>
              </a:tblGrid>
              <a:tr h="64007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AFFECTED PARTY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THE PROBLEM TODAY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CONSEQUENCE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4007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Developers &amp;
Product Teams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No time to evaluate 200+ models. Pick one premium
option and never revisit it.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Overpay by
10–30×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4007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Enterprise
Customers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Contract constraints manually translated into config
— or silently ignored. Compliance risk.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Legal
exposure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4007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End Users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"What is your return policy?" routed to a slow premium
model. Waits 2 seconds for a simple answer.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Poor
experience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4007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AI Data
Centers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Unnecessary load on premium GPU clusters from queries
that a small model would answer perfectly.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Wasted
capacity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640084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The
Environment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Premium models use ~39 Wh/query vs ~0.22 Wh for small
models. A 180× energy difference per call.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415 TWh/yr
and rising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One line of code.  We handle everything else.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1920240"/>
            <a:ext cx="5181447" cy="2331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181447" cy="32004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071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BEFORE — EVERY TEAM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15687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onsolas"/>
              </a:rPr>
              <a:t># Direct provider call
from openai import OpenAI
client = OpenAI(
    api_key="sk-...",
    base_url="https://api.openai.com/v1"
)
# Same model. Every request. Forever.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920240"/>
            <a:ext cx="5181447" cy="2331720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920240"/>
            <a:ext cx="5181447" cy="320040"/>
          </a:xfrm>
          <a:prstGeom prst="rect">
            <a:avLst/>
          </a:prstGeom>
          <a:solidFill>
            <a:srgbClr val="2A2A2A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984248"/>
            <a:ext cx="49071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onsolas"/>
              </a:rPr>
              <a:t>AFTER — WITH MODELGATE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331720"/>
            <a:ext cx="4815687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onsolas"/>
              </a:rPr>
              <a:t># Same code. Different URL.
from openai import OpenAI
client = OpenAI(
    api_key="&lt;token&gt;",
    base_url="https://gate/acme/v1"  # &lt;--
)
# Right model. Every request. Auto.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3423818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058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onsolas"/>
              </a:rPr>
              <a:t>API COMPATIBLE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Full OpenAI spec — no SDK
changes, no rewrites.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3938" y="4480560"/>
            <a:ext cx="3423818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818" y="4617720"/>
            <a:ext cx="3058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onsolas"/>
              </a:rPr>
              <a:t>POLICY ENFORCED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6818" y="493776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Contract constraints become
routing rules, automatically.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6356" y="4480560"/>
            <a:ext cx="3423818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9236" y="4617720"/>
            <a:ext cx="3058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Consolas"/>
              </a:rPr>
              <a:t>ALWAYS OPTIMAL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4937760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>Cheapest model that satisfies
every constraint, per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Two phases. Fully automated. No ongoing effort.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1920240"/>
            <a:ext cx="5135727" cy="32004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7699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onsolas"/>
              </a:rPr>
              <a:t>PHASE 1:  ONBOARDING  (≈ 30 seconds)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5135727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A5A5A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44956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Calibri"/>
              </a:rPr>
              <a:t>Upload contract  (PDF / text / SLA docs)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135727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A5A5A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27248"/>
            <a:ext cx="44956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Calibri"/>
              </a:rPr>
              <a:t>LLM reads and extracts all constraints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5135727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A5A5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67328"/>
            <a:ext cx="44956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Calibri"/>
              </a:rPr>
              <a:t>Structured Customer AI Profile generated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79"/>
            <a:ext cx="5135727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70831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A5A5A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07407"/>
            <a:ext cx="449564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Calibri"/>
              </a:rPr>
              <a:t>OpenAI-compatible endpoint goes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1920240"/>
            <a:ext cx="5135727" cy="320040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1984248"/>
            <a:ext cx="47699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onsolas"/>
              </a:rPr>
              <a:t>PHASE 2:  RUNTIME ROUTING  (~50ms overhead)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1607" y="2377440"/>
            <a:ext cx="755370" cy="292608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183" y="2423160"/>
            <a:ext cx="682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EEEEEE"/>
                </a:solidFill>
                <a:latin typeface="Consolas"/>
              </a:rPr>
              <a:t>Prompt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1842" y="2377440"/>
            <a:ext cx="755370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8418" y="2423160"/>
            <a:ext cx="682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Consolas"/>
              </a:rPr>
              <a:t>Classify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2076" y="2377440"/>
            <a:ext cx="755370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8652" y="2423160"/>
            <a:ext cx="682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Consolas"/>
              </a:rPr>
              <a:t>Filter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92311" y="2377440"/>
            <a:ext cx="755370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28887" y="2423160"/>
            <a:ext cx="682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Consolas"/>
              </a:rPr>
              <a:t>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02545" y="2377440"/>
            <a:ext cx="755370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9121" y="2423160"/>
            <a:ext cx="682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Consolas"/>
              </a:rPr>
              <a:t>Route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2780" y="2377440"/>
            <a:ext cx="755370" cy="292608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49356" y="2423160"/>
            <a:ext cx="68221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EEEEEE"/>
                </a:solidFill>
                <a:latin typeface="Consolas"/>
              </a:rPr>
              <a:t>Respond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324447" y="288036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560320"/>
                <a:gridCol w="2103120"/>
              </a:tblGrid>
              <a:tr h="50292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MODELS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USE CASE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0292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GPT 5.4 nano · Gemini 3.1 Flash Lite · Haiku 4.5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FAQ, greetings, status checks · ~300ms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0292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GPT 5.4 mini · Sonnet 4.6 · Grok 4.1 Fast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Summarize, explain, troubleshoot · ~700ms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0292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Complex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GPT 5.4 · Opus 4.6 · Gemini 3.1 Pro · Grok 4.20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Multi-doc reasoning, code gen, legal · ~1500ms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324447" y="498348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Classifier: katanemo/Arch-Router-1.5B on GPU  ·  Heuristic fallback if no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WHO IT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Three personas. One solution. Simultaneous benefit.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1920240"/>
            <a:ext cx="3423818" cy="43434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202020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6661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DEVELOPER / PRODUCT TEAM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880360"/>
            <a:ext cx="314949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3017520"/>
            <a:ext cx="296661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Georgia"/>
              </a:rPr>
              <a:t>"I just want AI to work.
I don't have time to evaluate
every new model."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114800"/>
            <a:ext cx="314949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42519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Picks one premium model,
overpays forever.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5257800"/>
            <a:ext cx="314949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53949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onsolas"/>
              </a:rP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6235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One URL change. Automatic
right-sizing. Done forever.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3938" y="1920240"/>
            <a:ext cx="3423818" cy="43434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2538" y="20574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202020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2560320"/>
            <a:ext cx="296661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ENTERPRISE COMPLIANCE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21098" y="2880360"/>
            <a:ext cx="314949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2538" y="3017520"/>
            <a:ext cx="296661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Georgia"/>
              </a:rPr>
              <a:t>"Our contracts say EU-only.
I cannot trust engineers
will remember this."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21098" y="4114800"/>
            <a:ext cx="314949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12538" y="42519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BEFORE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2538" y="44805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Manual config per customer.
One mistake = violation.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21098" y="5257800"/>
            <a:ext cx="314949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12538" y="53949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onsolas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2538" y="56235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Upload the contract. Routing
enforces it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6356" y="1920240"/>
            <a:ext cx="3423818" cy="43434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4956" y="20574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202020"/>
                </a:solidFill>
                <a:latin typeface="Georg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560320"/>
            <a:ext cx="296661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OPERATIONS / PLATFORM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73516" y="2880360"/>
            <a:ext cx="31494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64956" y="3017520"/>
            <a:ext cx="296661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99999"/>
                </a:solidFill>
                <a:latin typeface="Georgia"/>
              </a:rPr>
              <a:t>"I have no idea what our AI
is costing us or which
models we're using."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73516" y="4114800"/>
            <a:ext cx="31494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64956" y="42519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BEFORE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4956" y="44805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No visibility, no cost tracking,
no model distribution data.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73516" y="5257800"/>
            <a:ext cx="31494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64956" y="53949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onsolas"/>
              </a:rPr>
              <a:t>AFTER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4956" y="56235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Live dashboard. Cost savings.
Per-request explanations.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Academic validation + live system results.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920240"/>
            <a:ext cx="5900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PUBLISHED RESEARCH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94560"/>
          <a:ext cx="59007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54840"/>
              </a:tblGrid>
              <a:tr h="5943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FINDING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943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FrugalGPT
(Stanford, 2023)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Up to 98% cost reduction while matching
GPT-4 quality by cascading through cheaper models.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943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RouteLLM
(LMSYS, ICLR 2025)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&gt;85% cost reduction at 95% of GPT-4
performance using a trained routing model.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943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RouteLLM Matrix
Factorization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Only 14% of queries actually require the most
capable model. 86% can use smaller ones.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943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IEA Energy
Report (2025)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Global data center consumption: 415 TWh in 2024.
Projected to exceed 1,000 TWh by 2026.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98040" y="1920240"/>
            <a:ext cx="44621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MODELGATE LIVE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8040" y="2240280"/>
            <a:ext cx="2162487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2632" y="2350008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632" y="2606040"/>
            <a:ext cx="18333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EEEEE"/>
                </a:solidFill>
                <a:latin typeface="Georgia"/>
              </a:rPr>
              <a:t>&lt; 30s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62632" y="3154680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contract → endpoint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7687" y="2240280"/>
            <a:ext cx="2162487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2279" y="2350008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2279" y="2606040"/>
            <a:ext cx="18333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EEEEE"/>
                </a:solidFill>
                <a:latin typeface="Georgia"/>
              </a:rPr>
              <a:t>~50ms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2279" y="3154680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Arch-Router-1.5B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8040" y="3566160"/>
            <a:ext cx="2162487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2632" y="3675888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SIMPLE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2632" y="3931920"/>
            <a:ext cx="18333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EEEEE"/>
                </a:solidFill>
                <a:latin typeface="Georgia"/>
              </a:rPr>
              <a:t> 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2632" y="4480560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fill after demo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97687" y="3566160"/>
            <a:ext cx="2162487" cy="118872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2279" y="3675888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2279" y="3931920"/>
            <a:ext cx="183330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EEEEE"/>
                </a:solidFill>
                <a:latin typeface="Georgia"/>
              </a:rPr>
              <a:t> 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2279" y="4480560"/>
            <a:ext cx="183330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vs always-premium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8040" y="4709160"/>
            <a:ext cx="4462134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80920" y="4800600"/>
            <a:ext cx="409637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999999"/>
                </a:solidFill>
                <a:latin typeface="Georgia"/>
              </a:rPr>
              <a:t>"Smart routing delivers 85–98% cost reduction while maintaining quality indistinguishable from always-premium."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IMPACT &amp;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One change. Benefits at every layer of the stack.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92354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852160"/>
                <a:gridCol w="1920240"/>
              </a:tblGrid>
              <a:tr h="54863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LAYER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HOW MODELGATE HELPS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HEADLINE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4863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60–98% cost savings on AI inference
through intelligent right-sizing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60–98% saved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4863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End Users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Simple queries get fast answers.
Complex queries get powerful models.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Right model, always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4863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Data Centers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Less unnecessary GPU load on premium
clusters. Resources freed.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Less waste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48639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Energy Grid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Up to 180× less energy per routed-away
premium call. Compounding effect.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180× difference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548644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Contract constraints become routing rules.
Enforced per request, automatically.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Zero human error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31520" y="539496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532120"/>
            <a:ext cx="643719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99999"/>
                </a:solidFill>
                <a:latin typeface="Georgia"/>
              </a:rPr>
              <a:t>"ModelGate is the lowest-friction AI optimization available today. You change one line of code. We eliminate thousands of wasteful premium model calls — automatically."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3033" y="5486400"/>
            <a:ext cx="40768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4400" b="1" i="0">
                <a:solidFill>
                  <a:srgbClr val="EEEEEE"/>
                </a:solidFill>
                <a:latin typeface="Georgia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033" y="6035040"/>
            <a:ext cx="40768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onsolas"/>
              </a:rPr>
              <a:t>KSU  ·  Assurant Track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Five steps. One contract. Immediate routing.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1920240"/>
            <a:ext cx="2072579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02020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7068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Onboard ACME
Support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15468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29184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93008"/>
            <a:ext cx="17068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onsolas"/>
              </a:rPr>
              <a:t>Upload contract
Extract Profile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25196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38912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EXPECTED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17068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EU-only · DeepSeek blocked
1000ms latency target
High privacy · Auto tiers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5539" y="1920240"/>
            <a:ext cx="2072579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8419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02020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8419" y="2468880"/>
            <a:ext cx="17068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Copy
Endpoint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86979" y="315468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78419" y="329184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8419" y="3493008"/>
            <a:ext cx="17068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onsolas"/>
              </a:rPr>
              <a:t>Profile page
Copy URL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86979" y="425196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78419" y="438912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EXPECTED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8419" y="4590288"/>
            <a:ext cx="17068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/acme-support/v1
/chat/completions
Drop-in for OpenAI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59558" y="1920240"/>
            <a:ext cx="2072579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2438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02020"/>
                </a:solidFill>
                <a:latin typeface="Georg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2438" y="2468880"/>
            <a:ext cx="17068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Simple
Prompt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50998" y="315468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42438" y="329184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2438" y="3493008"/>
            <a:ext cx="17068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onsolas"/>
              </a:rPr>
              <a:t>"What is your
return policy?"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50998" y="425196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42438" y="438912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EXPECTED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2438" y="4590288"/>
            <a:ext cx="17068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Classified: simple
GPT 5.4 nano · ~300ms
Fraction of a 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577" y="1920240"/>
            <a:ext cx="2072579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457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02020"/>
                </a:solidFill>
                <a:latin typeface="Georgia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457" y="2468880"/>
            <a:ext cx="17068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Complex
Prompt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15017" y="315468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06457" y="329184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457" y="3493008"/>
            <a:ext cx="17068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onsolas"/>
              </a:rPr>
              <a:t>"Analyze liability
exposure..."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017" y="425196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06457" y="438912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EXPECTED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457" y="4590288"/>
            <a:ext cx="17068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Classified: complex
Opus 4.6 · ~1.5s
Same endpoint, auto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87596" y="1920240"/>
            <a:ext cx="2072579" cy="42976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70476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02020"/>
                </a:solidFill>
                <a:latin typeface="Georgia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70476" y="2468880"/>
            <a:ext cx="170681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EEEE"/>
                </a:solidFill>
                <a:latin typeface="Calibri"/>
              </a:rPr>
              <a:t>Dashboard
Metrics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79036" y="315468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570476" y="329184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0476" y="3493008"/>
            <a:ext cx="17068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onsolas"/>
              </a:rPr>
              <a:t>Navigate to
main dashboard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479036" y="4251960"/>
            <a:ext cx="1889699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570476" y="4389120"/>
            <a:ext cx="17068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A5A5A"/>
                </a:solidFill>
                <a:latin typeface="Consolas"/>
              </a:rPr>
              <a:t>EXPECTED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0476" y="4590288"/>
            <a:ext cx="17068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</a:rPr>
              <a:t>Model distribution chart
Cost savings banner
Live routing feed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PLANNING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19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EEEEEE"/>
                </a:solidFill>
                <a:latin typeface="Georgia"/>
              </a:rPr>
              <a:t>MVP scoped, artifacts produced, team distributed.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920240"/>
            <a:ext cx="51814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MVP DELIVERED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176272"/>
            <a:ext cx="5181447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267712"/>
            <a:ext cx="518144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Calibri"/>
              </a:rPr>
              <a:t/>
            </a:r>
            <a:r>
              <a:t>  Contract ingestion + LLM extraction pipeline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999999"/>
                </a:solidFill>
                <a:latin typeface="Calibri"/>
              </a:rPr>
              <a:t>  Structured CustomerProfile JSON schema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999999"/>
                </a:solidFill>
                <a:latin typeface="Calibri"/>
              </a:rPr>
              <a:t>  OpenAI-compatible proxy endpoint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999999"/>
                </a:solidFill>
                <a:latin typeface="Calibri"/>
              </a:rPr>
              <a:t>  Arch-Router-1.5B classifier + heuristic fallback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999999"/>
                </a:solidFill>
                <a:latin typeface="Calibri"/>
              </a:rPr>
              <a:t>  Policy-filtered, objective-scored routing engine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999999"/>
                </a:solidFill>
                <a:latin typeface="Calibri"/>
              </a:rPr>
              <a:t>  Dashboard: stats, profiles, logs, playground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1814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NEXT ITERATIONS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873752"/>
            <a:ext cx="5181447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965192"/>
            <a:ext cx="5181447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</a:rPr>
              <a:t/>
            </a:r>
            <a:r>
              <a:t>  Vector search over large contract doc sets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5A5A5A"/>
                </a:solidFill>
                <a:latin typeface="Calibri"/>
              </a:rPr>
              <a:t>  Live provider health signals in routing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5A5A5A"/>
                </a:solidFill>
                <a:latin typeface="Calibri"/>
              </a:rPr>
              <a:t>  Managed SaaS deployment (no Docker)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5A5A5A"/>
                </a:solidFill>
                <a:latin typeface="Calibri"/>
              </a:rPr>
              <a:t>  Streaming response support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5A5A5A"/>
                </a:solidFill>
                <a:latin typeface="Calibri"/>
              </a:rPr>
              <a:t>  Auto model catalog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20240"/>
            <a:ext cx="51814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DESIGN ARTIFACTS (5)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78727" y="2176272"/>
            <a:ext cx="518144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78727" y="2267712"/>
          <a:ext cx="518144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645920"/>
                <a:gridCol w="3215487"/>
              </a:tblGrid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ARTIFACT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DESCRIPTION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Architecture Diagram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Backend services + routing pipeline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Profile Schema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JSON: constraints, performance, routing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Routing Flowchart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Policy filter → score → select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Dashboard UI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Overview, customers, profile, logs, playground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Demo Script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Step-by-step with expected outputs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78727" y="4617720"/>
            <a:ext cx="518144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onsolas"/>
              </a:rPr>
              <a:t>TEAM DISTRIBUTION (4 MEMBERS)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78727" y="4873752"/>
            <a:ext cx="5181448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78727" y="4965192"/>
          <a:ext cx="518144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718407"/>
              </a:tblGrid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DOMAIN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900" b="0">
                          <a:solidFill>
                            <a:srgbClr val="5A5A5A"/>
                          </a:solidFill>
                          <a:latin typeface="Consolas"/>
                        </a:rPr>
                        <a:t>SCOPE</a:t>
                      </a:r>
                    </a:p>
                  </a:txBody>
                  <a:tcPr anchor="t">
                    <a:solidFill>
                      <a:srgbClr val="1a1a1a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Backend Routing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Classifier, router engine, provider registry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LLM Extraction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Extractor, prompt eng, profile schema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Next.js pages, shadcn/ui, Recharts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  <a:tr h="365760"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1">
                          <a:solidFill>
                            <a:srgbClr val="EEEEEE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  <a:tc>
                  <a:txBody>
                    <a:bodyPr lIns="73152" rIns="73152" tIns="54864" bIns="54864"/>
                    <a:lstStyle/>
                    <a:p>
                      <a:pPr algn="l"/>
                      <a:r>
                        <a:rPr sz="1200" b="0">
                          <a:solidFill>
                            <a:srgbClr val="999999"/>
                          </a:solidFill>
                          <a:latin typeface="Calibri"/>
                        </a:rPr>
                        <a:t>Docker, OpenRouter, e2e tests, demo prep</a:t>
                      </a:r>
                    </a:p>
                  </a:txBody>
                  <a:tcPr anchor="t">
                    <a:solidFill>
                      <a:srgbClr val="101010"/>
                    </a:solidFill>
                    <a:lnL w="6350">
                      <a:solidFill>
                        <a:srgbClr val="333333"/>
                      </a:solidFill>
                    </a:lnL>
                    <a:lnR w="6350">
                      <a:solidFill>
                        <a:srgbClr val="333333"/>
                      </a:solidFill>
                    </a:lnR>
                    <a:lnT w="6350">
                      <a:solidFill>
                        <a:srgbClr val="333333"/>
                      </a:solidFill>
                    </a:lnT>
                    <a:lnB w="6350">
                      <a:solidFill>
                        <a:srgbClr val="33333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